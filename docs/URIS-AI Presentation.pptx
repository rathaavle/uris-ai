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254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0" y="-274320"/>
            <a:ext cx="3291840" cy="3291840"/>
          </a:xfrm>
          <a:prstGeom prst="ellipse">
            <a:avLst/>
          </a:prstGeom>
          <a:solidFill>
            <a:srgbClr val="027BD5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799" y="1188719"/>
            <a:ext cx="4023360" cy="4023360"/>
          </a:xfrm>
          <a:prstGeom prst="ellipse">
            <a:avLst/>
          </a:prstGeom>
          <a:solidFill>
            <a:srgbClr val="25427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0" y="3200400"/>
            <a:ext cx="1828800" cy="1828800"/>
          </a:xfrm>
          <a:prstGeom prst="ellipse">
            <a:avLst/>
          </a:prstGeom>
          <a:solidFill>
            <a:srgbClr val="00B4D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Noto Sans"/>
              </a:rPr>
              <a:t>URIS-AI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25603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01368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  <a:latin typeface="Noto Sans"/>
              </a:rPr>
              <a:t>Urban Risk Intelligence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7744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8"/>
                </a:solidFill>
                <a:latin typeface="Noto Sans"/>
              </a:rPr>
              <a:t>"From Data to Decision
for Smarter Urban Resilience"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18688"/>
            <a:ext cx="4114800" cy="36576"/>
          </a:xfrm>
          <a:prstGeom prst="rect">
            <a:avLst/>
          </a:prstGeom>
          <a:solidFill>
            <a:srgbClr val="3A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3101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oto Sans"/>
              </a:rPr>
              <a:t>Athalie Aurora Puspanegara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3931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Noto Sans"/>
              </a:rPr>
              <a:t>Datathon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097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Noto Sans"/>
              </a:rPr>
              <a:t>LIVE DEMO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46304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157276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Noto Sans"/>
              </a:rPr>
              <a:t>urisai-api-zgwts4p3va-as.a.run.app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Noto Sans"/>
              </a:rPr>
              <a:t>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39572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Noto Sans"/>
              </a:rPr>
              <a:t>github.com/rathaavle/uris-ai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8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85546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A8CC"/>
                </a:solidFill>
                <a:latin typeface="Noto Sans"/>
              </a:rPr>
              <a:t>10-minute presentation  |  Live deployment available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"/>
              </a:rPr>
              <a:t>Masalah yang Diselesaikan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594360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  <a:latin typeface="Noto Sans"/>
              </a:rPr>
              <a:t>URIS-AI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8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85546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A8CC"/>
                </a:solidFill>
                <a:latin typeface="Noto Sans"/>
              </a:rPr>
              <a:t>Datathon 2026  |  Athalie Aurora Puspanegara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85546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00B4D8"/>
                </a:solidFill>
                <a:latin typeface="Noto Sans"/>
              </a:rPr>
              <a:t>urisai-api-zgwts4p3va-as.a.run.app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777240"/>
            <a:ext cx="4206240" cy="1600200"/>
          </a:xfrm>
          <a:prstGeom prst="rect">
            <a:avLst/>
          </a:prstGeom>
          <a:solidFill>
            <a:srgbClr val="162A4A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777240"/>
            <a:ext cx="64008" cy="1600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94183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Noto Sans"/>
              </a:rPr>
              <a:t>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9601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oto Sans"/>
              </a:rPr>
              <a:t>Banjir Tidak Terprediksi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3258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  <a:latin typeface="Noto Sans"/>
              </a:rPr>
              <a:t>Respons darurat selalu reaktif, bukan proaktif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777240"/>
            <a:ext cx="4206240" cy="1600200"/>
          </a:xfrm>
          <a:prstGeom prst="rect">
            <a:avLst/>
          </a:prstGeom>
          <a:solidFill>
            <a:srgbClr val="162A4A"/>
          </a:solidFill>
          <a:ln w="6350">
            <a:solidFill>
              <a:srgbClr val="02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777240"/>
            <a:ext cx="64008" cy="1600200"/>
          </a:xfrm>
          <a:prstGeom prst="rect">
            <a:avLst/>
          </a:prstGeom>
          <a:solidFill>
            <a:srgbClr val="02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94183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Noto Sans"/>
              </a:rPr>
              <a:t>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9601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oto Sans"/>
              </a:rPr>
              <a:t>Kemacetan saat Banjir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13258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  <a:latin typeface="Noto Sans"/>
              </a:rPr>
              <a:t>Tidak ada informasi dampak lalu lintas real-time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606040"/>
            <a:ext cx="4206240" cy="1600200"/>
          </a:xfrm>
          <a:prstGeom prst="rect">
            <a:avLst/>
          </a:prstGeom>
          <a:solidFill>
            <a:srgbClr val="162A4A"/>
          </a:solidFill>
          <a:ln w="6350">
            <a:solidFill>
              <a:srgbClr val="F4A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06040"/>
            <a:ext cx="64008" cy="1600200"/>
          </a:xfrm>
          <a:prstGeom prst="rect">
            <a:avLst/>
          </a:prstGeom>
          <a:solidFill>
            <a:srgbClr val="F4A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77063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Noto Sans"/>
              </a:rPr>
              <a:t>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27889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oto Sans"/>
              </a:rPr>
              <a:t>Akses Fasilitas Terputus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1546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  <a:latin typeface="Noto Sans"/>
              </a:rPr>
              <a:t>Warga tidak tahu fasilitas mana yang masih bisa dijangkau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606040"/>
            <a:ext cx="4206240" cy="1600200"/>
          </a:xfrm>
          <a:prstGeom prst="rect">
            <a:avLst/>
          </a:prstGeom>
          <a:solidFill>
            <a:srgbClr val="162A4A"/>
          </a:solidFill>
          <a:ln w="6350">
            <a:solidFill>
              <a:srgbClr val="2D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54880" y="2606040"/>
            <a:ext cx="64008" cy="16002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277063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Noto Sans"/>
              </a:rP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27889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oto Sans"/>
              </a:rPr>
              <a:t>Data Tersebar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31546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  <a:latin typeface="Noto Sans"/>
              </a:rPr>
              <a:t>BMKG, OSM, historis banjir — tidak terintegrasi dalam satu platform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389120"/>
            <a:ext cx="8503920" cy="384048"/>
          </a:xfrm>
          <a:prstGeom prst="rect">
            <a:avLst/>
          </a:prstGeom>
          <a:solidFill>
            <a:srgbClr val="0E223C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434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00B4D8"/>
                </a:solidFill>
                <a:latin typeface="Noto Sans"/>
              </a:rPr>
              <a:t>Jakarta dan Jawa Barat membutuhkan sistem kecerdasan risiko terpadu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"/>
              </a:rPr>
              <a:t>Solusi: URIS-AI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594360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  <a:latin typeface="Noto Sans"/>
              </a:rPr>
              <a:t>URIS-AI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8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85546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A8CC"/>
                </a:solidFill>
                <a:latin typeface="Noto Sans"/>
              </a:rPr>
              <a:t>Datathon 2026  |  Athalie Aurora Puspanegara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85546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00B4D8"/>
                </a:solidFill>
                <a:latin typeface="Noto Sans"/>
              </a:rPr>
              <a:t>urisai-api-zgwts4p3va-as.a.run.app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749808"/>
            <a:ext cx="8503920" cy="658368"/>
          </a:xfrm>
          <a:prstGeom prst="rect">
            <a:avLst/>
          </a:prstGeom>
          <a:solidFill>
            <a:srgbClr val="0E223C"/>
          </a:solidFill>
          <a:ln w="6350">
            <a:solidFill>
              <a:srgbClr val="02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8046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D6E8"/>
                </a:solidFill>
                <a:latin typeface="Noto Sans"/>
              </a:rPr>
              <a:t>Sistem berbasis AI yang mengintegrasikan data multi-sumber untuk memantau, memprediksi, dan merespons risiko urban secara real-time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36192"/>
            <a:ext cx="2697480" cy="2651760"/>
          </a:xfrm>
          <a:prstGeom prst="rect">
            <a:avLst/>
          </a:prstGeom>
          <a:solidFill>
            <a:srgbClr val="16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536192"/>
            <a:ext cx="269748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B1D34"/>
                </a:solidFill>
                <a:latin typeface="Noto Sans"/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5910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1D34"/>
                </a:solidFill>
                <a:latin typeface="Noto Sans"/>
              </a:rPr>
              <a:t>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14884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Noto Sans"/>
              </a:rPr>
              <a:t>25 wilayah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Noto Sans"/>
              </a:rPr>
              <a:t>Jakarta &amp; Jawa Barat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Noto Sans"/>
              </a:rPr>
              <a:t>Update tiap 15 menit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536192"/>
            <a:ext cx="2697480" cy="2651760"/>
          </a:xfrm>
          <a:prstGeom prst="rect">
            <a:avLst/>
          </a:prstGeom>
          <a:solidFill>
            <a:srgbClr val="162A4A"/>
          </a:solidFill>
          <a:ln w="12700">
            <a:solidFill>
              <a:srgbClr val="F4A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46120" y="1536192"/>
            <a:ext cx="2697480" cy="502920"/>
          </a:xfrm>
          <a:prstGeom prst="rect">
            <a:avLst/>
          </a:prstGeom>
          <a:solidFill>
            <a:srgbClr val="F4A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B1D34"/>
                </a:solidFill>
                <a:latin typeface="Noto Sans"/>
              </a:rPr>
              <a:t>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15910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1D34"/>
                </a:solidFill>
                <a:latin typeface="Noto Sans"/>
              </a:rPr>
              <a:t>PREDICT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14884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Noto Sans"/>
              </a:rPr>
              <a:t>Urban Risk Score (URS)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Noto Sans"/>
              </a:rPr>
              <a:t>0-100 berbasis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Noto Sans"/>
              </a:rPr>
              <a:t>Machine Learning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536192"/>
            <a:ext cx="2697480" cy="2651760"/>
          </a:xfrm>
          <a:prstGeom prst="rect">
            <a:avLst/>
          </a:prstGeom>
          <a:solidFill>
            <a:srgbClr val="162A4A"/>
          </a:solidFill>
          <a:ln w="12700">
            <a:solidFill>
              <a:srgbClr val="2D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1536192"/>
            <a:ext cx="2697480" cy="50292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B1D34"/>
                </a:solidFill>
                <a:latin typeface="Noto Sans"/>
              </a:rPr>
              <a:t>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15910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1D34"/>
                </a:solidFill>
                <a:latin typeface="Noto Sans"/>
              </a:rPr>
              <a:t>RESPOND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14884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Noto Sans"/>
              </a:rPr>
              <a:t>Rekomendasi tindakan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Noto Sans"/>
              </a:rPr>
              <a:t>kontekstual +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Noto Sans"/>
              </a:rPr>
              <a:t>rute aman otomatis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315968"/>
            <a:ext cx="8503920" cy="457200"/>
          </a:xfrm>
          <a:prstGeom prst="rect">
            <a:avLst/>
          </a:prstGeom>
          <a:solidFill>
            <a:srgbClr val="081528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36168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Noto Sans"/>
              </a:rPr>
              <a:t>🌐  Live:  https://urisai-api-zgwts4p3va-as.a.run.app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"/>
              </a:rPr>
              <a:t>Urban Risk Score (URS)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594360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  <a:latin typeface="Noto Sans"/>
              </a:rPr>
              <a:t>URIS-AI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8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85546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A8CC"/>
                </a:solidFill>
                <a:latin typeface="Noto Sans"/>
              </a:rPr>
              <a:t>Datathon 2026  |  Athalie Aurora Puspanegara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85546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00B4D8"/>
                </a:solidFill>
                <a:latin typeface="Noto Sans"/>
              </a:rPr>
              <a:t>urisai-api-zgwts4p3va-as.a.run.app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749808"/>
            <a:ext cx="8503920" cy="822960"/>
          </a:xfrm>
          <a:prstGeom prst="rect">
            <a:avLst/>
          </a:prstGeom>
          <a:solidFill>
            <a:srgbClr val="0E223C"/>
          </a:solidFill>
          <a:ln w="15240">
            <a:solidFill>
              <a:srgbClr val="02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"/>
              </a:rPr>
              <a:t>URS  =  (Flood Risk × 50%)  +  (Traffic Impact × 30%)  +  (Service Access × 20%)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719072"/>
            <a:ext cx="2057400" cy="1645920"/>
          </a:xfrm>
          <a:prstGeom prst="rect">
            <a:avLst/>
          </a:prstGeom>
          <a:solidFill>
            <a:srgbClr val="162A4A"/>
          </a:solidFill>
          <a:ln w="12700">
            <a:solidFill>
              <a:srgbClr val="2D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719072"/>
            <a:ext cx="2057400" cy="4572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556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D34"/>
                </a:solidFill>
                <a:latin typeface="Noto Sans"/>
              </a:rPr>
              <a:t>🟢  RENDAH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30428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DC653"/>
                </a:solidFill>
                <a:latin typeface="Noto Sans"/>
              </a:rPr>
              <a:t>0 – 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7889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8"/>
                </a:solidFill>
                <a:latin typeface="Noto Sans"/>
              </a:rPr>
              <a:t>SKOR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1719072"/>
            <a:ext cx="2057400" cy="1645920"/>
          </a:xfrm>
          <a:prstGeom prst="rect">
            <a:avLst/>
          </a:prstGeom>
          <a:solidFill>
            <a:srgbClr val="162A4A"/>
          </a:solidFill>
          <a:ln w="12700">
            <a:solidFill>
              <a:srgbClr val="F4A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1719072"/>
            <a:ext cx="2057400" cy="457200"/>
          </a:xfrm>
          <a:prstGeom prst="rect">
            <a:avLst/>
          </a:prstGeom>
          <a:solidFill>
            <a:srgbClr val="F4A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17556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D34"/>
                </a:solidFill>
                <a:latin typeface="Noto Sans"/>
              </a:rPr>
              <a:t>🟡  SEDANG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30428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A621"/>
                </a:solidFill>
                <a:latin typeface="Noto Sans"/>
              </a:rPr>
              <a:t>26 – 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7889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8"/>
                </a:solidFill>
                <a:latin typeface="Noto Sans"/>
              </a:rPr>
              <a:t>SKOR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1719072"/>
            <a:ext cx="2057400" cy="1645920"/>
          </a:xfrm>
          <a:prstGeom prst="rect">
            <a:avLst/>
          </a:prstGeom>
          <a:solidFill>
            <a:srgbClr val="162A4A"/>
          </a:solidFill>
          <a:ln w="12700">
            <a:solidFill>
              <a:srgbClr val="F2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1719072"/>
            <a:ext cx="2057400" cy="457200"/>
          </a:xfrm>
          <a:prstGeom prst="rect">
            <a:avLst/>
          </a:prstGeom>
          <a:solidFill>
            <a:srgbClr val="F25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59" y="17556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D34"/>
                </a:solidFill>
                <a:latin typeface="Noto Sans"/>
              </a:rPr>
              <a:t>🔴  TINGGI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230428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25C54"/>
                </a:solidFill>
                <a:latin typeface="Noto Sans"/>
              </a:rPr>
              <a:t>51 – 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27889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8"/>
                </a:solidFill>
                <a:latin typeface="Noto Sans"/>
              </a:rPr>
              <a:t>SKOR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1719072"/>
            <a:ext cx="2057400" cy="1645920"/>
          </a:xfrm>
          <a:prstGeom prst="rect">
            <a:avLst/>
          </a:prstGeom>
          <a:solidFill>
            <a:srgbClr val="162A4A"/>
          </a:solidFill>
          <a:ln w="12700">
            <a:solidFill>
              <a:srgbClr val="B44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6560" y="1719072"/>
            <a:ext cx="2057400" cy="457200"/>
          </a:xfrm>
          <a:prstGeom prst="rect">
            <a:avLst/>
          </a:prstGeom>
          <a:solidFill>
            <a:srgbClr val="B44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17556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D34"/>
                </a:solidFill>
                <a:latin typeface="Noto Sans"/>
              </a:rPr>
              <a:t>🟣  KRITIS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30428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44FD4"/>
                </a:solidFill>
                <a:latin typeface="Noto Sans"/>
              </a:rPr>
              <a:t>76 – 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889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8"/>
                </a:solidFill>
                <a:latin typeface="Noto Sans"/>
              </a:rPr>
              <a:t>SKOR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520440"/>
            <a:ext cx="8503920" cy="914400"/>
          </a:xfrm>
          <a:prstGeom prst="rect">
            <a:avLst/>
          </a:prstGeom>
          <a:solidFill>
            <a:srgbClr val="1E0A2A"/>
          </a:solidFill>
          <a:ln w="19050">
            <a:solidFill>
              <a:srgbClr val="B44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5661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44FD4"/>
                </a:solidFill>
                <a:latin typeface="Noto Sans"/>
              </a:rPr>
              <a:t>💡 Contoh Nyata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8862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oto Sans"/>
              </a:rPr>
              <a:t>Penjaringan, Jakarta Utara  →  URS 84.2  →  KRITIS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187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Noto Sans"/>
              </a:rPr>
              <a:t>Elevasi 2m • Drainage terkecil di Jakarta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"/>
              </a:rPr>
              <a:t>Integrasi Data Multi-Sumber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594360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  <a:latin typeface="Noto Sans"/>
              </a:rPr>
              <a:t>URIS-AI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8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85546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A8CC"/>
                </a:solidFill>
                <a:latin typeface="Noto Sans"/>
              </a:rPr>
              <a:t>Datathon 2026  |  Athalie Aurora Puspanegara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85546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00B4D8"/>
                </a:solidFill>
                <a:latin typeface="Noto Sans"/>
              </a:rPr>
              <a:t>urisai-api-zgwts4p3va-as.a.run.app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solidFill>
            <a:srgbClr val="254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813816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Noto San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81381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Noto Sans"/>
              </a:rPr>
              <a:t>SUMBER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8138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Noto Sans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81381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Noto Sans"/>
              </a:rPr>
              <a:t>JUMLAH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170432"/>
            <a:ext cx="8503920" cy="603503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1170432"/>
            <a:ext cx="54864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234440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latin typeface="Noto Sans"/>
              </a:rPr>
              <a:t>🌧️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126187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Noto Sans"/>
              </a:rPr>
              <a:t>BMKG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126187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Noto Sans"/>
              </a:rPr>
              <a:t>Prakiraan cuaca harian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280160"/>
            <a:ext cx="228600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28016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B1D34"/>
                </a:solidFill>
                <a:latin typeface="Noto Sans"/>
              </a:rPr>
              <a:t>432 records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810512"/>
            <a:ext cx="8503920" cy="603503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1810512"/>
            <a:ext cx="54864" cy="603503"/>
          </a:xfrm>
          <a:prstGeom prst="rect">
            <a:avLst/>
          </a:prstGeom>
          <a:solidFill>
            <a:srgbClr val="02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1874519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latin typeface="Noto Sans"/>
              </a:rPr>
              <a:t>🗺️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190195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Noto Sans"/>
              </a:rPr>
              <a:t>OpenStreetMap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190195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Noto Sans"/>
              </a:rPr>
              <a:t>Jaringan jalan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920240"/>
            <a:ext cx="2286000" cy="384048"/>
          </a:xfrm>
          <a:prstGeom prst="rect">
            <a:avLst/>
          </a:prstGeom>
          <a:solidFill>
            <a:srgbClr val="02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9202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B1D34"/>
                </a:solidFill>
                <a:latin typeface="Noto Sans"/>
              </a:rPr>
              <a:t>27.835 ruas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450591"/>
            <a:ext cx="8503920" cy="603503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2450591"/>
            <a:ext cx="54864" cy="603503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2514599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latin typeface="Noto Sans"/>
              </a:rPr>
              <a:t>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254203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Noto Sans"/>
              </a:rPr>
              <a:t>OpenStreetMap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254203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Noto Sans"/>
              </a:rPr>
              <a:t>Fasilitas publik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560320"/>
            <a:ext cx="2286000" cy="38404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25603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B1D34"/>
                </a:solidFill>
                <a:latin typeface="Noto Sans"/>
              </a:rPr>
              <a:t>11.233 fasilitas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090672"/>
            <a:ext cx="8503920" cy="603503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3090672"/>
            <a:ext cx="54864" cy="603503"/>
          </a:xfrm>
          <a:prstGeom prst="rect">
            <a:avLst/>
          </a:prstGeom>
          <a:solidFill>
            <a:srgbClr val="F4A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154679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latin typeface="Noto Sans"/>
              </a:rPr>
              <a:t>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318211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Noto Sans"/>
              </a:rPr>
              <a:t>Historis Banjir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318211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Noto Sans"/>
              </a:rPr>
              <a:t>Kejadian banjir Jakarta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200400"/>
            <a:ext cx="2286000" cy="384048"/>
          </a:xfrm>
          <a:prstGeom prst="rect">
            <a:avLst/>
          </a:prstGeom>
          <a:solidFill>
            <a:srgbClr val="F4A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2004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B1D34"/>
                </a:solidFill>
                <a:latin typeface="Noto Sans"/>
              </a:rPr>
              <a:t>646 events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3730752"/>
            <a:ext cx="8503920" cy="603503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0040" y="3730752"/>
            <a:ext cx="54864" cy="603503"/>
          </a:xfrm>
          <a:prstGeom prst="rect">
            <a:avLst/>
          </a:prstGeom>
          <a:solidFill>
            <a:srgbClr val="F25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3794760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latin typeface="Noto Sans"/>
              </a:rPr>
              <a:t>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3822191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Noto Sans"/>
              </a:rPr>
              <a:t>PetaBencana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8960" y="3822191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Noto Sans"/>
              </a:rPr>
              <a:t>Laporan real-time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3840480"/>
            <a:ext cx="2286000" cy="384048"/>
          </a:xfrm>
          <a:prstGeom prst="rect">
            <a:avLst/>
          </a:prstGeom>
          <a:solidFill>
            <a:srgbClr val="F25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384048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B1D34"/>
                </a:solidFill>
                <a:latin typeface="Noto Sans"/>
              </a:rPr>
              <a:t>Live feed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370832"/>
            <a:ext cx="8503920" cy="402336"/>
          </a:xfrm>
          <a:prstGeom prst="rect">
            <a:avLst/>
          </a:prstGeom>
          <a:solidFill>
            <a:srgbClr val="0E223C"/>
          </a:solidFill>
          <a:ln w="6350">
            <a:solidFill>
              <a:srgbClr val="02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44074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CCD6E8"/>
                </a:solidFill>
                <a:latin typeface="Noto Sans"/>
              </a:rPr>
              <a:t>Semua data diintegrasikan ke dalam 8 tabel MySQL dan diolah secara otomatis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"/>
              </a:rPr>
              <a:t>Arsitektur Sistem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594360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  <a:latin typeface="Noto Sans"/>
              </a:rPr>
              <a:t>URIS-AI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8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85546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A8CC"/>
                </a:solidFill>
                <a:latin typeface="Noto Sans"/>
              </a:rPr>
              <a:t>Datathon 2026  |  Athalie Aurora Puspanegara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85546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00B4D8"/>
                </a:solidFill>
                <a:latin typeface="Noto Sans"/>
              </a:rPr>
              <a:t>urisai-api-zgwts4p3va-as.a.run.app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777240"/>
            <a:ext cx="4023360" cy="3520440"/>
          </a:xfrm>
          <a:prstGeom prst="rect">
            <a:avLst/>
          </a:prstGeom>
          <a:solidFill>
            <a:srgbClr val="16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777240"/>
            <a:ext cx="402336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832103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1D34"/>
                </a:solidFill>
                <a:latin typeface="Noto Sans"/>
              </a:rPr>
              <a:t>☁️  GCP Cloud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3716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Noto Sans"/>
              </a:rPr>
              <a:t>⚛️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37160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Noto Sans"/>
              </a:rPr>
              <a:t>React 18 + Vite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66420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Noto Sans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08483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Noto Sans"/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2084832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Noto Sans"/>
              </a:rPr>
              <a:t>FastAPI + Python 3.12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237744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Noto Sans"/>
              </a:rP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79806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Noto Sans"/>
              </a:rPr>
              <a:t>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27980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Noto Sans"/>
              </a:rPr>
              <a:t>Docker Container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9067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Noto Sans"/>
              </a:rPr>
              <a:t>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1129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Noto Sans"/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3511296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Noto Sans"/>
              </a:rPr>
              <a:t>Scale to zero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1" y="380390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Noto Sans"/>
              </a:rPr>
              <a:t>Gratis saat idle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70832" y="2194560"/>
            <a:ext cx="411480" cy="73152"/>
          </a:xfrm>
          <a:prstGeom prst="rect">
            <a:avLst/>
          </a:prstGeom>
          <a:solidFill>
            <a:srgbClr val="02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0832" y="20574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27BD5"/>
                </a:solidFill>
                <a:latin typeface="Noto Sans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0600" y="777240"/>
            <a:ext cx="4023360" cy="3520440"/>
          </a:xfrm>
          <a:prstGeom prst="rect">
            <a:avLst/>
          </a:prstGeom>
          <a:solidFill>
            <a:srgbClr val="162A4A"/>
          </a:solidFill>
          <a:ln w="12700">
            <a:solidFill>
              <a:srgbClr val="02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00600" y="777240"/>
            <a:ext cx="4023360" cy="457200"/>
          </a:xfrm>
          <a:prstGeom prst="rect">
            <a:avLst/>
          </a:prstGeom>
          <a:solidFill>
            <a:srgbClr val="02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832103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oto Sans"/>
              </a:rPr>
              <a:t>☁️  Microsoft Azure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13716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Noto Sans"/>
              </a:rPr>
              <a:t>🗄️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13832" y="137160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Noto Sans"/>
              </a:rPr>
              <a:t>MySQL Free Tier B1MS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13832" y="166420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Noto Sans"/>
              </a:rPr>
              <a:t>Database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208483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Noto Sans"/>
              </a:rPr>
              <a:t>🗺️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13832" y="2084832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Noto Sans"/>
              </a:rPr>
              <a:t>Azure Maps Gen2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3832" y="237744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Noto Sans"/>
              </a:rPr>
              <a:t>Peta interaktif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279806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Noto Sans"/>
              </a:rPr>
              <a:t>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3832" y="27980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Noto Sans"/>
              </a:rPr>
              <a:t>Blob Storage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13832" y="309067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Noto Sans"/>
              </a:rPr>
              <a:t>Data 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83480" y="351129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Noto Sans"/>
              </a:rPr>
              <a:t>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13832" y="3511296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Noto Sans"/>
              </a:rPr>
              <a:t>Key Vault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13832" y="380390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Noto Sans"/>
              </a:rPr>
              <a:t>Secrets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370832"/>
            <a:ext cx="8503920" cy="402336"/>
          </a:xfrm>
          <a:prstGeom prst="rect">
            <a:avLst/>
          </a:prstGeom>
          <a:solidFill>
            <a:srgbClr val="081528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4074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Noto Sans"/>
              </a:rPr>
              <a:t>💰 Biaya operasional: ~$0.54/bulan  |  🔒 HTTPS otomatis  |  📈 Auto-scale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"/>
              </a:rPr>
              <a:t>Fitur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594360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  <a:latin typeface="Noto Sans"/>
              </a:rPr>
              <a:t>URIS-AI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8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85546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A8CC"/>
                </a:solidFill>
                <a:latin typeface="Noto Sans"/>
              </a:rPr>
              <a:t>Datathon 2026  |  Athalie Aurora Puspanegara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85546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00B4D8"/>
                </a:solidFill>
                <a:latin typeface="Noto Sans"/>
              </a:rPr>
              <a:t>urisai-api-zgwts4p3va-as.a.run.app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822960"/>
            <a:ext cx="2761488" cy="1691640"/>
          </a:xfrm>
          <a:prstGeom prst="rect">
            <a:avLst/>
          </a:prstGeom>
          <a:solidFill>
            <a:srgbClr val="162A4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822960"/>
            <a:ext cx="2761488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98755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latin typeface="Noto Sans"/>
              </a:rPr>
              <a:t>🗺️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024128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Noto Sans"/>
              </a:rPr>
              <a:t>Peta Interaktif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150876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Noto Sans"/>
              </a:rPr>
              <a:t>Azure Maps night style, bubble marker per wilayah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822960"/>
            <a:ext cx="2761488" cy="1691640"/>
          </a:xfrm>
          <a:prstGeom prst="rect">
            <a:avLst/>
          </a:prstGeom>
          <a:solidFill>
            <a:srgbClr val="162A4A"/>
          </a:solidFill>
          <a:ln w="9525">
            <a:solidFill>
              <a:srgbClr val="02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822960"/>
            <a:ext cx="2761488" cy="73152"/>
          </a:xfrm>
          <a:prstGeom prst="rect">
            <a:avLst/>
          </a:prstGeom>
          <a:solidFill>
            <a:srgbClr val="02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128" y="98755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latin typeface="Noto Sans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1024128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Noto Sans"/>
              </a:rPr>
              <a:t>KPI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150876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Noto Sans"/>
              </a:rPr>
              <a:t>Wilayah Kritis, Rata-rata URS, Total Wilayah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59" y="822960"/>
            <a:ext cx="2761488" cy="1691640"/>
          </a:xfrm>
          <a:prstGeom prst="rect">
            <a:avLst/>
          </a:prstGeom>
          <a:solidFill>
            <a:srgbClr val="162A4A"/>
          </a:solidFill>
          <a:ln w="9525">
            <a:solidFill>
              <a:srgbClr val="2D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59" y="822960"/>
            <a:ext cx="2761488" cy="73152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0488" y="98755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latin typeface="Noto Sans"/>
              </a:rPr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7999" y="1024128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Noto Sans"/>
              </a:rPr>
              <a:t>Tren 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150876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Noto Sans"/>
              </a:rPr>
              <a:t>Grafik 24 jam per wilayah (AreaChart)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633472"/>
            <a:ext cx="2761488" cy="1691640"/>
          </a:xfrm>
          <a:prstGeom prst="rect">
            <a:avLst/>
          </a:prstGeom>
          <a:solidFill>
            <a:srgbClr val="162A4A"/>
          </a:solidFill>
          <a:ln w="9525">
            <a:solidFill>
              <a:srgbClr val="F4A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2633472"/>
            <a:ext cx="2761488" cy="73152"/>
          </a:xfrm>
          <a:prstGeom prst="rect">
            <a:avLst/>
          </a:prstGeom>
          <a:solidFill>
            <a:srgbClr val="F4A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2798064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latin typeface="Noto Sans"/>
              </a:rPr>
              <a:t>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2834640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Noto Sans"/>
              </a:rPr>
              <a:t>Rekomendasi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331927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Noto Sans"/>
              </a:rPr>
              <a:t>5 tipe: alert, rute, fasilitas, evakuasi, sumber daya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2633472"/>
            <a:ext cx="2761488" cy="1691640"/>
          </a:xfrm>
          <a:prstGeom prst="rect">
            <a:avLst/>
          </a:prstGeom>
          <a:solidFill>
            <a:srgbClr val="162A4A"/>
          </a:solidFill>
          <a:ln w="9525">
            <a:solidFill>
              <a:srgbClr val="F2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2633472"/>
            <a:ext cx="2761488" cy="73152"/>
          </a:xfrm>
          <a:prstGeom prst="rect">
            <a:avLst/>
          </a:prstGeom>
          <a:solidFill>
            <a:srgbClr val="F25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10128" y="2798064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latin typeface="Noto Sans"/>
              </a:rPr>
              <a:t>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2834640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Noto Sans"/>
              </a:rPr>
              <a:t>Filter &amp; 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0128" y="331927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Noto Sans"/>
              </a:rPr>
              <a:t>Filter per kota, search wilayah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59" y="2633472"/>
            <a:ext cx="2761488" cy="1691640"/>
          </a:xfrm>
          <a:prstGeom prst="rect">
            <a:avLst/>
          </a:prstGeom>
          <a:solidFill>
            <a:srgbClr val="162A4A"/>
          </a:solidFill>
          <a:ln w="9525">
            <a:solidFill>
              <a:srgbClr val="B44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80759" y="2633472"/>
            <a:ext cx="2761488" cy="73152"/>
          </a:xfrm>
          <a:prstGeom prst="rect">
            <a:avLst/>
          </a:prstGeom>
          <a:solidFill>
            <a:srgbClr val="B44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0488" y="2798064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latin typeface="Noto Sans"/>
              </a:rPr>
              <a:t>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7999" y="2834640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Noto Sans"/>
              </a:rPr>
              <a:t>Responsif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0488" y="331927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Noto Sans"/>
              </a:rPr>
              <a:t>Mobile-friendly, auto-refresh 15 menit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407408"/>
            <a:ext cx="8503920" cy="365760"/>
          </a:xfrm>
          <a:prstGeom prst="rect">
            <a:avLst/>
          </a:prstGeom>
          <a:solidFill>
            <a:srgbClr val="081528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44398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Noto Sans"/>
              </a:rPr>
              <a:t>🌐  Live:  https://urisai-api-zgwts4p3va-as.a.run.app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594360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  <a:latin typeface="Noto Sans"/>
              </a:rPr>
              <a:t>URIS-AI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8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85546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A8CC"/>
                </a:solidFill>
                <a:latin typeface="Noto Sans"/>
              </a:rPr>
              <a:t>Datathon 2026  |  Athalie Aurora Puspanegara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85546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00B4D8"/>
                </a:solidFill>
                <a:latin typeface="Noto Sans"/>
              </a:rPr>
              <a:t>urisai-api-zgwts4p3va-as.a.run.app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777240"/>
            <a:ext cx="2697480" cy="3977639"/>
          </a:xfrm>
          <a:prstGeom prst="rect">
            <a:avLst/>
          </a:prstGeom>
          <a:solidFill>
            <a:srgbClr val="16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777240"/>
            <a:ext cx="269748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832103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D34"/>
                </a:solidFill>
                <a:latin typeface="Noto Sans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371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"/>
              </a:rPr>
              <a:t>⚛️  React 18 + Vite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29967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"/>
              </a:rPr>
              <a:t>🎨  TailwindCSS (Ocean Deep)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8833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"/>
              </a:rPr>
              <a:t>🗺️  Azure Maps SDK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4670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"/>
              </a:rPr>
              <a:t>📈  Recharts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00507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"/>
              </a:rPr>
              <a:t>🏪  Zustand + React Query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777240"/>
            <a:ext cx="2697480" cy="3977639"/>
          </a:xfrm>
          <a:prstGeom prst="rect">
            <a:avLst/>
          </a:prstGeom>
          <a:solidFill>
            <a:srgbClr val="162A4A"/>
          </a:solidFill>
          <a:ln w="12700">
            <a:solidFill>
              <a:srgbClr val="02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777240"/>
            <a:ext cx="2697480" cy="502920"/>
          </a:xfrm>
          <a:prstGeom prst="rect">
            <a:avLst/>
          </a:prstGeom>
          <a:solidFill>
            <a:srgbClr val="02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832103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D34"/>
                </a:solidFill>
                <a:latin typeface="Noto Sans"/>
              </a:rPr>
              <a:t>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1371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"/>
              </a:rPr>
              <a:t>🐍  Python 3.12 + FastAPI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029967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"/>
              </a:rPr>
              <a:t>🗄️  SQLAlchemy + PyMySQL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68833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"/>
              </a:rPr>
              <a:t>🤖  scikit-learn ML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34670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"/>
              </a:rPr>
              <a:t>⚡  Uvicorn ASGI Server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59" y="777240"/>
            <a:ext cx="2697480" cy="3977639"/>
          </a:xfrm>
          <a:prstGeom prst="rect">
            <a:avLst/>
          </a:prstGeom>
          <a:solidFill>
            <a:srgbClr val="162A4A"/>
          </a:solidFill>
          <a:ln w="12700">
            <a:solidFill>
              <a:srgbClr val="2D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59" y="777240"/>
            <a:ext cx="2697480" cy="50292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832103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D34"/>
                </a:solidFill>
                <a:latin typeface="Noto Sans"/>
              </a:rPr>
              <a:t>CLOUD &amp;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371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"/>
              </a:rPr>
              <a:t>☁️  GCP Cloud Run (Deploy)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029967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"/>
              </a:rPr>
              <a:t>🔧  GCP Cloud Build (CI/CD)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68833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"/>
              </a:rPr>
              <a:t>🗄️  Azure MySQL (Database)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34670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"/>
              </a:rPr>
              <a:t>🗺️  Azure Maps (Visualisasi)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"/>
              </a:rPr>
              <a:t>Hasil &amp;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594360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  <a:latin typeface="Noto Sans"/>
              </a:rPr>
              <a:t>URIS-AI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8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85546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A8CC"/>
                </a:solidFill>
                <a:latin typeface="Noto Sans"/>
              </a:rPr>
              <a:t>Datathon 2026  |  Athalie Aurora Puspanegara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85546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00B4D8"/>
                </a:solidFill>
                <a:latin typeface="Noto Sans"/>
              </a:rPr>
              <a:t>urisai-api-zgwts4p3va-as.a.run.app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777240"/>
            <a:ext cx="2011680" cy="1600200"/>
          </a:xfrm>
          <a:prstGeom prst="rect">
            <a:avLst/>
          </a:prstGeom>
          <a:solidFill>
            <a:srgbClr val="16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777240"/>
            <a:ext cx="201168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941832"/>
            <a:ext cx="1874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  <a:latin typeface="Noto Sans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160020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D6E8"/>
                </a:solidFill>
                <a:latin typeface="Noto Sans"/>
              </a:rPr>
              <a:t>Wilayah</a:t>
            </a:r>
          </a:p>
          <a:p>
            <a:pPr algn="ctr"/>
            <a:r>
              <a:rPr sz="1000" b="0">
                <a:solidFill>
                  <a:srgbClr val="CCD6E8"/>
                </a:solidFill>
                <a:latin typeface="Noto Sans"/>
              </a:rPr>
              <a:t>Dipantau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777240"/>
            <a:ext cx="2011680" cy="1600200"/>
          </a:xfrm>
          <a:prstGeom prst="rect">
            <a:avLst/>
          </a:prstGeom>
          <a:solidFill>
            <a:srgbClr val="162A4A"/>
          </a:solidFill>
          <a:ln w="12700">
            <a:solidFill>
              <a:srgbClr val="02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80" y="777240"/>
            <a:ext cx="2011680" cy="73152"/>
          </a:xfrm>
          <a:prstGeom prst="rect">
            <a:avLst/>
          </a:prstGeom>
          <a:solidFill>
            <a:srgbClr val="02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941832"/>
            <a:ext cx="1874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7BD5"/>
                </a:solidFill>
                <a:latin typeface="Noto Sans"/>
              </a:rPr>
              <a:t>27.835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60020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D6E8"/>
                </a:solidFill>
                <a:latin typeface="Noto Sans"/>
              </a:rPr>
              <a:t>Ruas Jalan</a:t>
            </a:r>
          </a:p>
          <a:p>
            <a:pPr algn="ctr"/>
            <a:r>
              <a:rPr sz="1000" b="0">
                <a:solidFill>
                  <a:srgbClr val="CCD6E8"/>
                </a:solidFill>
                <a:latin typeface="Noto Sans"/>
              </a:rPr>
              <a:t>Teranalisis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777240"/>
            <a:ext cx="2011680" cy="1600200"/>
          </a:xfrm>
          <a:prstGeom prst="rect">
            <a:avLst/>
          </a:prstGeom>
          <a:solidFill>
            <a:srgbClr val="162A4A"/>
          </a:solidFill>
          <a:ln w="12700">
            <a:solidFill>
              <a:srgbClr val="2D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777240"/>
            <a:ext cx="2011680" cy="73152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59" y="941832"/>
            <a:ext cx="1874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DC653"/>
                </a:solidFill>
                <a:latin typeface="Noto Sans"/>
              </a:rPr>
              <a:t>11.233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9" y="160020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D6E8"/>
                </a:solidFill>
                <a:latin typeface="Noto Sans"/>
              </a:rPr>
              <a:t>Fasilitas</a:t>
            </a:r>
          </a:p>
          <a:p>
            <a:pPr algn="ctr"/>
            <a:r>
              <a:rPr sz="1000" b="0">
                <a:solidFill>
                  <a:srgbClr val="CCD6E8"/>
                </a:solidFill>
                <a:latin typeface="Noto Sans"/>
              </a:rPr>
              <a:t>Terpantau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777240"/>
            <a:ext cx="2011680" cy="1600200"/>
          </a:xfrm>
          <a:prstGeom prst="rect">
            <a:avLst/>
          </a:prstGeom>
          <a:solidFill>
            <a:srgbClr val="162A4A"/>
          </a:solidFill>
          <a:ln w="12700">
            <a:solidFill>
              <a:srgbClr val="F4A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0" y="777240"/>
            <a:ext cx="2011680" cy="73152"/>
          </a:xfrm>
          <a:prstGeom prst="rect">
            <a:avLst/>
          </a:prstGeom>
          <a:solidFill>
            <a:srgbClr val="F4A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941832"/>
            <a:ext cx="1874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4A621"/>
                </a:solidFill>
                <a:latin typeface="Noto Sans"/>
              </a:rPr>
              <a:t>~$0.54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60020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D6E8"/>
                </a:solidFill>
                <a:latin typeface="Noto Sans"/>
              </a:rPr>
              <a:t>Per Bulan</a:t>
            </a:r>
          </a:p>
          <a:p>
            <a:pPr algn="ctr"/>
            <a:r>
              <a:rPr sz="1000" b="0">
                <a:solidFill>
                  <a:srgbClr val="CCD6E8"/>
                </a:solidFill>
                <a:latin typeface="Noto Sans"/>
              </a:rPr>
              <a:t>Biaya Operasional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514600"/>
            <a:ext cx="8503920" cy="384048"/>
          </a:xfrm>
          <a:prstGeom prst="rect">
            <a:avLst/>
          </a:prstGeom>
          <a:solidFill>
            <a:srgbClr val="254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55117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oto Sans"/>
              </a:rPr>
              <a:t>🎬  DEMO FLOW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971800"/>
            <a:ext cx="2697480" cy="1325880"/>
          </a:xfrm>
          <a:prstGeom prst="rect">
            <a:avLst/>
          </a:prstGeom>
          <a:solidFill>
            <a:srgbClr val="162A4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2971800"/>
            <a:ext cx="502920" cy="13258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" y="3063240"/>
            <a:ext cx="347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B1D34"/>
                </a:solidFill>
                <a:latin typeface="Noto San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Noto Sans"/>
              </a:rPr>
              <a:t>Landing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40156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  <a:latin typeface="Noto Sans"/>
              </a:rPr>
              <a:t>Tampilan awal &amp; fitur overview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2971800"/>
            <a:ext cx="2697480" cy="1325880"/>
          </a:xfrm>
          <a:prstGeom prst="rect">
            <a:avLst/>
          </a:prstGeom>
          <a:solidFill>
            <a:srgbClr val="162A4A"/>
          </a:solidFill>
          <a:ln w="9525">
            <a:solidFill>
              <a:srgbClr val="02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0" y="2971800"/>
            <a:ext cx="502920" cy="1325880"/>
          </a:xfrm>
          <a:prstGeom prst="rect">
            <a:avLst/>
          </a:prstGeom>
          <a:solidFill>
            <a:srgbClr val="02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73552" y="3063240"/>
            <a:ext cx="347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B1D34"/>
                </a:solidFill>
                <a:latin typeface="Noto Sans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Noto Sans"/>
              </a:rPr>
              <a:t>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4760" y="340156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  <a:latin typeface="Noto Sans"/>
              </a:rPr>
              <a:t>Peta interaktif, KPI, tren URS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59" y="2971800"/>
            <a:ext cx="2697480" cy="1325880"/>
          </a:xfrm>
          <a:prstGeom prst="rect">
            <a:avLst/>
          </a:prstGeom>
          <a:solidFill>
            <a:srgbClr val="162A4A"/>
          </a:solidFill>
          <a:ln w="9525">
            <a:solidFill>
              <a:srgbClr val="2D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80759" y="2971800"/>
            <a:ext cx="502920" cy="132588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3912" y="3063240"/>
            <a:ext cx="347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B1D34"/>
                </a:solidFill>
                <a:latin typeface="Noto Sans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Noto Sans"/>
              </a:rPr>
              <a:t>Detail Wilayah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340156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  <a:latin typeface="Noto Sans"/>
              </a:rPr>
              <a:t>Analisis mendalam per wilayah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370832"/>
            <a:ext cx="8503920" cy="402336"/>
          </a:xfrm>
          <a:prstGeom prst="rect">
            <a:avLst/>
          </a:prstGeom>
          <a:solidFill>
            <a:srgbClr val="081528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4074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B4D8"/>
                </a:solidFill>
                <a:latin typeface="Noto Sans"/>
              </a:rPr>
              <a:t>🌐  https://urisai-api-zgwts4p3va-as.a.run.app   |   📁  github.com/rathaavle/uris-ai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"/>
              </a:rPr>
              <a:t>Kesimpulan &amp; Ke Depan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594360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  <a:latin typeface="Noto Sans"/>
              </a:rPr>
              <a:t>URIS-AI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8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85546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A8CC"/>
                </a:solidFill>
                <a:latin typeface="Noto Sans"/>
              </a:rPr>
              <a:t>Datathon 2026  |  Athalie Aurora Puspanegara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85546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00B4D8"/>
                </a:solidFill>
                <a:latin typeface="Noto Sans"/>
              </a:rPr>
              <a:t>urisai-api-zgwts4p3va-as.a.run.app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777240"/>
            <a:ext cx="4114800" cy="3520440"/>
          </a:xfrm>
          <a:prstGeom prst="rect">
            <a:avLst/>
          </a:prstGeom>
          <a:solidFill>
            <a:srgbClr val="162A4A"/>
          </a:solidFill>
          <a:ln w="9525">
            <a:solidFill>
              <a:srgbClr val="2D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777240"/>
            <a:ext cx="4114800" cy="4572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822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1D34"/>
                </a:solidFill>
                <a:latin typeface="Noto Sans"/>
              </a:rPr>
              <a:t>✅  Yang Telah Dicapai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353312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latin typeface="Noto Sans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408176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"/>
              </a:rPr>
              <a:t>Sistem prediksi risiko banjir berbasis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38528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latin typeface="Noto Sans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99339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"/>
              </a:rPr>
              <a:t>Dashboard real-time 25 wilayah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523744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latin typeface="Noto Sans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57860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"/>
              </a:rPr>
              <a:t>Deployed live di GCP Cloud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0896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latin typeface="Noto Sans"/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163824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"/>
              </a:rPr>
              <a:t>Biaya efisien ~$0.54/bulan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94176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latin typeface="Noto Sans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749039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"/>
              </a:rPr>
              <a:t>Arsitektur siap scale ke seluruh Indonesia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777240"/>
            <a:ext cx="4114800" cy="3520440"/>
          </a:xfrm>
          <a:prstGeom prst="rect">
            <a:avLst/>
          </a:prstGeom>
          <a:solidFill>
            <a:srgbClr val="162A4A"/>
          </a:solidFill>
          <a:ln w="9525">
            <a:solidFill>
              <a:srgbClr val="B44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09160" y="777240"/>
            <a:ext cx="4114800" cy="457200"/>
          </a:xfrm>
          <a:prstGeom prst="rect">
            <a:avLst/>
          </a:prstGeom>
          <a:solidFill>
            <a:srgbClr val="B44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822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oto Sans"/>
              </a:rPr>
              <a:t>🔮  Roadmap ke Depan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1353312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latin typeface="Noto Sans"/>
              </a:rPr>
              <a:t>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1408176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"/>
              </a:rPr>
              <a:t>Integrasi API BMKG real-time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1938528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latin typeface="Noto Sans"/>
              </a:rPr>
              <a:t>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199339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"/>
              </a:rPr>
              <a:t>Notifikasi push darurat untuk pemerintah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2523744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latin typeface="Noto Sans"/>
              </a:rPr>
              <a:t>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257860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"/>
              </a:rPr>
              <a:t>Ekspansi ke 500+ kabupaten/kota Indonesia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310896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latin typeface="Noto Sans"/>
              </a:rPr>
              <a:t>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3163824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"/>
              </a:rPr>
              <a:t>Redis cache untuk response &lt; 1ms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694176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latin typeface="Noto Sans"/>
              </a:rPr>
              <a:t>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3749039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"/>
              </a:rPr>
              <a:t>UI Login role-based (government vs public)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370832"/>
            <a:ext cx="8503920" cy="402336"/>
          </a:xfrm>
          <a:prstGeom prst="rect">
            <a:avLst/>
          </a:prstGeom>
          <a:solidFill>
            <a:srgbClr val="25427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39826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00B4D8"/>
                </a:solidFill>
                <a:latin typeface="Noto Sans"/>
              </a:rPr>
              <a:t>"From Data to Decision for Smarter Urban Resilience"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